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SJ StatFlow — Avance septiembre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2E75B6"/>
                </a:solidFill>
              </a:defRPr>
            </a:pPr>
            <a:r>
              <a:t>Informe gerencial · SJ Seguridad</a:t>
            </a:r>
          </a:p>
          <a:p>
            <a:pPr>
              <a:defRPr sz="1400">
                <a:solidFill>
                  <a:srgbClr val="2E75B6"/>
                </a:solidFill>
              </a:defRPr>
            </a:pPr>
            <a:r>
              <a:t>GH digitalizada: desvinculaciones, cursos, selección y acreditaciones con validación APO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Gestión Humana — entregas del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Desvinculaciones: masivos, ZIP de cartas, seguimientos con checklist OK TODO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Cursos: vigencia automática, catálogo, import/export Excel, documentos por registro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Selección: dashboard KPIs, ingreso y examen ocupacional, export y filtros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Acreditaciones: acreditados, reporte diario (2 Excel APO), 4 colas de validación cruzada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En curso: Export SuperVigilancia (.xls) + dashboard acreditaciones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Transversal, TIC e indicadores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04040"/>
                </a:solidFill>
              </a:defRPr>
            </a:pPr>
            <a:r>
              <a:t>• TIC: solicitudes de desarrollo FO-TIC-23 (radicación, líder, bandeja, chat)</a:t>
            </a:r>
          </a:p>
          <a:p>
            <a:pPr>
              <a:spcAft>
                <a:spcPts val="800"/>
              </a:spcAft>
              <a:defRPr sz="1500">
                <a:solidFill>
                  <a:srgbClr val="404040"/>
                </a:solidFill>
              </a:defRPr>
            </a:pPr>
            <a:r>
              <a:t>• Requisiciones: impresión y notificaciones ampliadas</a:t>
            </a:r>
          </a:p>
          <a:p>
            <a:pPr>
              <a:spcAft>
                <a:spcPts val="800"/>
              </a:spcAft>
              <a:defRPr sz="1500">
                <a:solidFill>
                  <a:srgbClr val="404040"/>
                </a:solidFill>
              </a:defRPr>
            </a:pPr>
            <a:r>
              <a:t>• Compras: comentarios y plantilla masiva de precarga</a:t>
            </a:r>
          </a:p>
          <a:p>
            <a:pPr>
              <a:spcAft>
                <a:spcPts val="800"/>
              </a:spcAft>
              <a:defRPr sz="1500">
                <a:solidFill>
                  <a:srgbClr val="404040"/>
                </a:solidFill>
              </a:defRPr>
            </a:pPr>
            <a:r>
              <a:t>• Ficha empleados: campos, import y permisos copy/edit</a:t>
            </a:r>
          </a:p>
          <a:p>
            <a:pPr>
              <a:spcAft>
                <a:spcPts val="800"/>
              </a:spcAft>
              <a:defRPr sz="1500">
                <a:solidFill>
                  <a:srgbClr val="404040"/>
                </a:solidFill>
              </a:defRPr>
            </a:pPr>
            <a:r>
              <a:t>• UX: iconos unificados, marca corporativa en tableros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234440"/>
            <a:ext cx="3108960" cy="4389120"/>
          </a:xfrm>
          <a:prstGeom prst="rect">
            <a:avLst/>
          </a:prstGeom>
          <a:solidFill>
            <a:srgbClr val="E8F0F8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F4E79"/>
                </a:solidFill>
              </a:defRPr>
            </a:pPr>
            <a:r>
              <a:t>Indicadores sep.</a:t>
            </a:r>
          </a:p>
          <a:p>
            <a:pPr>
              <a:spcBef>
                <a:spcPts val="1200"/>
              </a:spcBef>
              <a:defRPr sz="1600">
                <a:solidFill>
                  <a:srgbClr val="404040"/>
                </a:solidFill>
              </a:defRPr>
            </a:pPr>
            <a:r>
              <a:t>37 commits</a:t>
            </a:r>
          </a:p>
          <a:p>
            <a:pPr>
              <a:spcBef>
                <a:spcPts val="1200"/>
              </a:spcBef>
              <a:defRPr sz="1600">
                <a:solidFill>
                  <a:srgbClr val="404040"/>
                </a:solidFill>
              </a:defRPr>
            </a:pPr>
            <a:r>
              <a:t>5 features cerradas</a:t>
            </a:r>
          </a:p>
          <a:p>
            <a:pPr>
              <a:spcBef>
                <a:spcPts val="1200"/>
              </a:spcBef>
              <a:defRPr sz="1600">
                <a:solidFill>
                  <a:srgbClr val="404040"/>
                </a:solidFill>
              </a:defRPr>
            </a:pPr>
            <a:r>
              <a:t>4 en cierre / activas</a:t>
            </a:r>
          </a:p>
          <a:p>
            <a:pPr>
              <a:spcBef>
                <a:spcPts val="1200"/>
              </a:spcBef>
              <a:defRPr sz="1600">
                <a:solidFill>
                  <a:srgbClr val="404040"/>
                </a:solidFill>
              </a:defRPr>
            </a:pPr>
            <a:r>
              <a:t>Cierre: Acreditaciones operativas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Próximos pasos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04040"/>
                </a:solidFill>
              </a:defRPr>
            </a:pPr>
            <a:r>
              <a:t>Cerrar Cursos, TIC y cola «sin curso» (documentación y permisos)</a:t>
            </a:r>
          </a:p>
          <a:p>
            <a:pPr>
              <a:spcAft>
                <a:spcPts val="1000"/>
              </a:spcAft>
              <a:defRPr sz="1900">
                <a:solidFill>
                  <a:srgbClr val="404040"/>
                </a:solidFill>
              </a:defRPr>
            </a:pPr>
            <a:r>
              <a:t>Completar Export APO + dashboard; prueba con lote real SuperVigilancia</a:t>
            </a:r>
          </a:p>
          <a:p>
            <a:pPr>
              <a:spcAft>
                <a:spcPts val="1000"/>
              </a:spcAft>
              <a:defRPr sz="1900">
                <a:solidFill>
                  <a:srgbClr val="404040"/>
                </a:solidFill>
              </a:defRPr>
            </a:pPr>
            <a:r>
              <a:t>Capacitar GH: rutina diaria Reporte Diario → Validaciones → acciones</a:t>
            </a:r>
          </a:p>
          <a:p>
            <a:pPr>
              <a:spcAft>
                <a:spcPts val="1000"/>
              </a:spcAft>
              <a:defRPr sz="1900">
                <a:solidFill>
                  <a:srgbClr val="404040"/>
                </a:solidFill>
              </a:defRPr>
            </a:pPr>
            <a:r>
              <a:t>Definir matriz rol–permiso antes de adopción masiva de tableros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